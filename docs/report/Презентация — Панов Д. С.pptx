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4231C"/>
                </a:solidFill>
                <a:latin typeface="Arial"/>
              </a:rPr>
              <a:t>Выручка и штрафы по месяцам, тыс. ₽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Аренда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Sheet1!$A$2:$A$13</c:f>
              <c:strCache>
                <c:ptCount val="12"/>
                <c:pt idx="0">
                  <c:v>ноя</c:v>
                </c:pt>
                <c:pt idx="1">
                  <c:v>дек</c:v>
                </c:pt>
                <c:pt idx="2">
                  <c:v>янв</c:v>
                </c:pt>
                <c:pt idx="3">
                  <c:v>фев</c:v>
                </c:pt>
                <c:pt idx="4">
                  <c:v>мар</c:v>
                </c:pt>
                <c:pt idx="5">
                  <c:v>апр</c:v>
                </c:pt>
                <c:pt idx="6">
                  <c:v>май</c:v>
                </c:pt>
                <c:pt idx="7">
                  <c:v>июн</c:v>
                </c:pt>
                <c:pt idx="8">
                  <c:v>июл</c:v>
                </c:pt>
                <c:pt idx="9">
                  <c:v>авг</c:v>
                </c:pt>
                <c:pt idx="10">
                  <c:v>сен</c:v>
                </c:pt>
                <c:pt idx="11">
                  <c:v>окт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16.42</c:v>
                </c:pt>
                <c:pt idx="2">
                  <c:v>37.948</c:v>
                </c:pt>
                <c:pt idx="3">
                  <c:v>49.96</c:v>
                </c:pt>
                <c:pt idx="4">
                  <c:v>98.565</c:v>
                </c:pt>
                <c:pt idx="5">
                  <c:v>70.555</c:v>
                </c:pt>
                <c:pt idx="6">
                  <c:v>114.568</c:v>
                </c:pt>
                <c:pt idx="7">
                  <c:v>147.805</c:v>
                </c:pt>
                <c:pt idx="8">
                  <c:v>122.228</c:v>
                </c:pt>
                <c:pt idx="9">
                  <c:v>194.653</c:v>
                </c:pt>
                <c:pt idx="10">
                  <c:v>130.54</c:v>
                </c:pt>
                <c:pt idx="11">
                  <c:v>189.26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Штрафы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Sheet1!$A$2:$A$13</c:f>
              <c:strCache>
                <c:ptCount val="12"/>
                <c:pt idx="0">
                  <c:v>ноя</c:v>
                </c:pt>
                <c:pt idx="1">
                  <c:v>дек</c:v>
                </c:pt>
                <c:pt idx="2">
                  <c:v>янв</c:v>
                </c:pt>
                <c:pt idx="3">
                  <c:v>фев</c:v>
                </c:pt>
                <c:pt idx="4">
                  <c:v>мар</c:v>
                </c:pt>
                <c:pt idx="5">
                  <c:v>апр</c:v>
                </c:pt>
                <c:pt idx="6">
                  <c:v>май</c:v>
                </c:pt>
                <c:pt idx="7">
                  <c:v>июн</c:v>
                </c:pt>
                <c:pt idx="8">
                  <c:v>июл</c:v>
                </c:pt>
                <c:pt idx="9">
                  <c:v>авг</c:v>
                </c:pt>
                <c:pt idx="10">
                  <c:v>сен</c:v>
                </c:pt>
                <c:pt idx="11">
                  <c:v>окт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9.0</c:v>
                </c:pt>
                <c:pt idx="2">
                  <c:v>1.95</c:v>
                </c:pt>
                <c:pt idx="3">
                  <c:v>6.9</c:v>
                </c:pt>
                <c:pt idx="4">
                  <c:v>16.2</c:v>
                </c:pt>
                <c:pt idx="5">
                  <c:v>7.05</c:v>
                </c:pt>
                <c:pt idx="6">
                  <c:v>9.975</c:v>
                </c:pt>
                <c:pt idx="7">
                  <c:v>29.1</c:v>
                </c:pt>
                <c:pt idx="8">
                  <c:v>28.5</c:v>
                </c:pt>
                <c:pt idx="9">
                  <c:v>22.8</c:v>
                </c:pt>
                <c:pt idx="10">
                  <c:v>26.25</c:v>
                </c:pt>
                <c:pt idx="11">
                  <c:v>25.95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0C4"/>
            </a:solidFill>
          </a:ln>
        </c:spPr>
        <c:txPr>
          <a:bodyPr/>
          <a:lstStyle/>
          <a:p>
            <a:pPr>
              <a:defRPr sz="1200">
                <a:solidFill>
                  <a:srgbClr val="5E6B6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9D0C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D0C4"/>
            </a:solidFill>
          </a:ln>
        </c:spPr>
        <c:txPr>
          <a:bodyPr/>
          <a:lstStyle/>
          <a:p>
            <a:pPr>
              <a:defRPr sz="1200">
                <a:solidFill>
                  <a:srgbClr val="5E6B6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Тема практики — веб-приложение для пункта проката спортивного, туристического и строительного оборудования.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Аналоги — облачные CRM и сервисы онлайн-записи — платные или рассчитаны на запись по времени, а не на количество единиц на даты.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Самостоятельная регистрация всегда даёт роль клиента; менеджеров создаёт администратор.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модулей Django: accounts, catalog, inventory, bookings, dashboard. Правила, меняющие несколько таблиц, вынесены в services.py и выполняются в одной транзакции.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Ограничение «не больше N экземпляров на пересекающиеся даты» обеспечивается сервисным слоем — простым CHECK его не выразить.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Пересечение: начало ≤ конец запроса и конец ≥ начало запроса. Просроченная выдача занимает экземпляры до сегодняшнего 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Форма запрашивает /api/quote/ при каждом изменении; сервер всё равно пересчитывает цену при сохранении.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Вкладки-очереди: новые, к выдаче, ожидаем возврат, просрочены, все с поиском.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Графики на сайте: выручка и штрафы, брони по месяцам, топ оборудования, загрузка парка, статусы, штрафы по видам.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Найденные при тестировании дефекты (формат дат, формат сумм, статусы в демо-данных, вёрстка формы приёма) исправлены, на часть добавлены регрессионные тесты.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внимание. Демо-доступ: client, manager1, 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ag ★"/>
          <p:cNvSpPr/>
          <p:nvPr/>
        </p:nvSpPr>
        <p:spPr>
          <a:xfrm>
            <a:off x="731520" y="73152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1C"/>
                </a:solidFill>
                <a:latin typeface="Arial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78638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6F23A"/>
                </a:solidFill>
                <a:latin typeface="Arial"/>
              </a:rPr>
              <a:t>Снаряга · прокат оборудования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Веб-приложение «Прокат оборудования»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EF0EA"/>
                </a:solidFill>
                <a:latin typeface="Arial"/>
              </a:rPr>
              <a:t>Бронирование инвентаря, контроль сроков аренды, учёт склада и штрафов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EF0EA"/>
                </a:solidFill>
                <a:latin typeface="Arial"/>
              </a:rPr>
              <a:t>Отчёт по учебной практике · специальность 09.02.07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EF0EA"/>
                </a:solidFill>
                <a:latin typeface="Arial"/>
              </a:rPr>
              <a:t>Выполнил: Панов Д. С., группа 9ИС-360 · Проверила: Балаева Е. 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5989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EEF0EA"/>
                </a:solidFill>
                <a:latin typeface="Arial"/>
              </a:rPr>
              <a:t>Новосибирск,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4231C"/>
                </a:solidFill>
                <a:latin typeface="Arial"/>
              </a:rPr>
              <a:t>Почему прокату нужна система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E6B63"/>
                </a:solidFill>
                <a:latin typeface="Arial"/>
              </a:rPr>
              <a:t>Что происходит, пока брони ведутся по телефону и в таблице</a:t>
            </a:r>
          </a:p>
        </p:txBody>
      </p:sp>
      <p:sp>
        <p:nvSpPr>
          <p:cNvPr id="4" name="problem 1"/>
          <p:cNvSpPr/>
          <p:nvPr/>
        </p:nvSpPr>
        <p:spPr>
          <a:xfrm>
            <a:off x="548640" y="1920240"/>
            <a:ext cx="2596896" cy="292608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g 1"/>
          <p:cNvSpPr/>
          <p:nvPr/>
        </p:nvSpPr>
        <p:spPr>
          <a:xfrm>
            <a:off x="822959" y="219456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1C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92608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900" b="1">
                <a:solidFill>
                  <a:srgbClr val="14231C"/>
                </a:solidFill>
                <a:latin typeface="Arial"/>
              </a:rPr>
              <a:t>Двойные брони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79476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E6B63"/>
                </a:solidFill>
                <a:latin typeface="Arial"/>
              </a:rPr>
              <a:t>Два менеджера обещают последнюю палатку на пересекающиеся даты</a:t>
            </a:r>
          </a:p>
        </p:txBody>
      </p:sp>
      <p:sp>
        <p:nvSpPr>
          <p:cNvPr id="8" name="problem 2"/>
          <p:cNvSpPr/>
          <p:nvPr/>
        </p:nvSpPr>
        <p:spPr>
          <a:xfrm>
            <a:off x="3364992" y="1920240"/>
            <a:ext cx="2596896" cy="292608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ag 2"/>
          <p:cNvSpPr/>
          <p:nvPr/>
        </p:nvSpPr>
        <p:spPr>
          <a:xfrm>
            <a:off x="3639312" y="219456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1C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92608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900" b="1">
                <a:solidFill>
                  <a:srgbClr val="14231C"/>
                </a:solidFill>
                <a:latin typeface="Arial"/>
              </a:rPr>
              <a:t>Спор о повреждениях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379476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E6B63"/>
                </a:solidFill>
                <a:latin typeface="Arial"/>
              </a:rPr>
              <a:t>Неизвестно, какой экземпляр выдан и в каком состоянии</a:t>
            </a:r>
          </a:p>
        </p:txBody>
      </p:sp>
      <p:sp>
        <p:nvSpPr>
          <p:cNvPr id="12" name="problem 3"/>
          <p:cNvSpPr/>
          <p:nvPr/>
        </p:nvSpPr>
        <p:spPr>
          <a:xfrm>
            <a:off x="6181344" y="1920240"/>
            <a:ext cx="2596896" cy="292608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 3"/>
          <p:cNvSpPr/>
          <p:nvPr/>
        </p:nvSpPr>
        <p:spPr>
          <a:xfrm>
            <a:off x="6455664" y="219456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1C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92608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900" b="1">
                <a:solidFill>
                  <a:srgbClr val="14231C"/>
                </a:solidFill>
                <a:latin typeface="Arial"/>
              </a:rPr>
              <a:t>Просрочки и штрафы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379476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E6B63"/>
                </a:solidFill>
                <a:latin typeface="Arial"/>
              </a:rPr>
              <a:t>Просрочку замечают поздно, штраф считают вручную</a:t>
            </a:r>
          </a:p>
        </p:txBody>
      </p:sp>
      <p:sp>
        <p:nvSpPr>
          <p:cNvPr id="16" name="problem 4"/>
          <p:cNvSpPr/>
          <p:nvPr/>
        </p:nvSpPr>
        <p:spPr>
          <a:xfrm>
            <a:off x="8997696" y="1920240"/>
            <a:ext cx="2596896" cy="292608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ag 4"/>
          <p:cNvSpPr/>
          <p:nvPr/>
        </p:nvSpPr>
        <p:spPr>
          <a:xfrm>
            <a:off x="9272016" y="219456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1C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6" y="292608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900" b="1">
                <a:solidFill>
                  <a:srgbClr val="14231C"/>
                </a:solidFill>
                <a:latin typeface="Arial"/>
              </a:rPr>
              <a:t>Нет картины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379476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E6B63"/>
                </a:solidFill>
                <a:latin typeface="Arial"/>
              </a:rPr>
              <a:t>Непонятно, что приносит выручку и какой парк простаивает</a:t>
            </a:r>
          </a:p>
        </p:txBody>
      </p:sp>
      <p:sp>
        <p:nvSpPr>
          <p:cNvPr id="20" name="goal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8000"/>
            </a:avLst>
          </a:prstGeom>
          <a:solidFill>
            <a:srgbClr val="14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5780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D6F23A"/>
                </a:solidFill>
                <a:latin typeface="Arial"/>
              </a:rPr>
              <a:t>Цель: </a:t>
            </a:r>
            <a:r>
              <a:rPr sz="1700" b="0">
                <a:solidFill>
                  <a:srgbClr val="FFFFFF"/>
                </a:solidFill>
                <a:latin typeface="Arial"/>
              </a:rPr>
              <a:t>клиент сам видит свободное оборудование и бронирует его, а система не даёт пересечь брони сверх количества экземпляров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4231C"/>
                </a:solidFill>
                <a:latin typeface="Arial"/>
              </a:rPr>
              <a:t>Три роли — три рабочих места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E6B63"/>
                </a:solidFill>
                <a:latin typeface="Arial"/>
              </a:rPr>
              <a:t>Права проверяются на каждой странице; клиент видит только свои брони</a:t>
            </a:r>
          </a:p>
        </p:txBody>
      </p:sp>
      <p:sp>
        <p:nvSpPr>
          <p:cNvPr id="4" name="role Клиент"/>
          <p:cNvSpPr/>
          <p:nvPr/>
        </p:nvSpPr>
        <p:spPr>
          <a:xfrm>
            <a:off x="548640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4D3A"/>
                </a:solidFill>
                <a:latin typeface="Arial"/>
              </a:rPr>
              <a:t>Клиент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4D3A"/>
                </a:solidFill>
                <a:latin typeface="Arial"/>
              </a:rPr>
              <a:t>—  </a:t>
            </a:r>
            <a:r>
              <a:rPr sz="1700" b="0">
                <a:solidFill>
                  <a:srgbClr val="14231C"/>
                </a:solidFill>
                <a:latin typeface="Arial"/>
              </a:rPr>
              <a:t>Каталог: поиск, фильтры, «свободно на даты»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4D3A"/>
                </a:solidFill>
                <a:latin typeface="Arial"/>
              </a:rPr>
              <a:t>—  </a:t>
            </a:r>
            <a:r>
              <a:rPr sz="1700" b="0">
                <a:solidFill>
                  <a:srgbClr val="14231C"/>
                </a:solidFill>
                <a:latin typeface="Arial"/>
              </a:rPr>
              <a:t>Бронь с расчётом цены и скидки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4D3A"/>
                </a:solidFill>
                <a:latin typeface="Arial"/>
              </a:rPr>
              <a:t>—  </a:t>
            </a:r>
            <a:r>
              <a:rPr sz="1700" b="0">
                <a:solidFill>
                  <a:srgbClr val="14231C"/>
                </a:solidFill>
                <a:latin typeface="Arial"/>
              </a:rPr>
              <a:t>Статусы, история аренд, штрафы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4D3A"/>
                </a:solidFill>
                <a:latin typeface="Arial"/>
              </a:rPr>
              <a:t>—  </a:t>
            </a:r>
            <a:r>
              <a:rPr sz="1700" b="0">
                <a:solidFill>
                  <a:srgbClr val="14231C"/>
                </a:solidFill>
                <a:latin typeface="Arial"/>
              </a:rPr>
              <a:t>Отмена до выдачи</a:t>
            </a:r>
          </a:p>
        </p:txBody>
      </p:sp>
      <p:sp>
        <p:nvSpPr>
          <p:cNvPr id="7" name="role Менеджер"/>
          <p:cNvSpPr/>
          <p:nvPr/>
        </p:nvSpPr>
        <p:spPr>
          <a:xfrm>
            <a:off x="4297679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19" y="2103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4D3A"/>
                </a:solidFill>
                <a:latin typeface="Arial"/>
              </a:rPr>
              <a:t>Менеджер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19" y="274320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4D3A"/>
                </a:solidFill>
                <a:latin typeface="Arial"/>
              </a:rPr>
              <a:t>—  </a:t>
            </a:r>
            <a:r>
              <a:rPr sz="1700" b="0">
                <a:solidFill>
                  <a:srgbClr val="14231C"/>
                </a:solidFill>
                <a:latin typeface="Arial"/>
              </a:rPr>
              <a:t>Очереди: новые, к выдаче, возврат, просрочка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4D3A"/>
                </a:solidFill>
                <a:latin typeface="Arial"/>
              </a:rPr>
              <a:t>—  </a:t>
            </a:r>
            <a:r>
              <a:rPr sz="1700" b="0">
                <a:solidFill>
                  <a:srgbClr val="14231C"/>
                </a:solidFill>
                <a:latin typeface="Arial"/>
              </a:rPr>
              <a:t>Выдача конкретных экземпляров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4D3A"/>
                </a:solidFill>
                <a:latin typeface="Arial"/>
              </a:rPr>
              <a:t>—  </a:t>
            </a:r>
            <a:r>
              <a:rPr sz="1700" b="0">
                <a:solidFill>
                  <a:srgbClr val="14231C"/>
                </a:solidFill>
                <a:latin typeface="Arial"/>
              </a:rPr>
              <a:t>Приём с отметкой состояния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4D3A"/>
                </a:solidFill>
                <a:latin typeface="Arial"/>
              </a:rPr>
              <a:t>—  </a:t>
            </a:r>
            <a:r>
              <a:rPr sz="1700" b="0">
                <a:solidFill>
                  <a:srgbClr val="14231C"/>
                </a:solidFill>
                <a:latin typeface="Arial"/>
              </a:rPr>
              <a:t>Штрафы, ремонт, склад</a:t>
            </a:r>
          </a:p>
        </p:txBody>
      </p:sp>
      <p:sp>
        <p:nvSpPr>
          <p:cNvPr id="10" name="role Администратор"/>
          <p:cNvSpPr/>
          <p:nvPr/>
        </p:nvSpPr>
        <p:spPr>
          <a:xfrm>
            <a:off x="8046719" y="18288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2103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4D3A"/>
                </a:solidFill>
                <a:latin typeface="Arial"/>
              </a:rPr>
              <a:t>Администратор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74320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4D3A"/>
                </a:solidFill>
                <a:latin typeface="Arial"/>
              </a:rPr>
              <a:t>—  </a:t>
            </a:r>
            <a:r>
              <a:rPr sz="1700" b="0">
                <a:solidFill>
                  <a:srgbClr val="14231C"/>
                </a:solidFill>
                <a:latin typeface="Arial"/>
              </a:rPr>
              <a:t>Каталог, фото, категории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4D3A"/>
                </a:solidFill>
                <a:latin typeface="Arial"/>
              </a:rPr>
              <a:t>—  </a:t>
            </a:r>
            <a:r>
              <a:rPr sz="1700" b="0">
                <a:solidFill>
                  <a:srgbClr val="14231C"/>
                </a:solidFill>
                <a:latin typeface="Arial"/>
              </a:rPr>
              <a:t>Тарифы и правила проката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4D3A"/>
                </a:solidFill>
                <a:latin typeface="Arial"/>
              </a:rPr>
              <a:t>—  </a:t>
            </a:r>
            <a:r>
              <a:rPr sz="1700" b="0">
                <a:solidFill>
                  <a:srgbClr val="14231C"/>
                </a:solidFill>
                <a:latin typeface="Arial"/>
              </a:rPr>
              <a:t>Сотрудники и клиенты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F4D3A"/>
                </a:solidFill>
                <a:latin typeface="Arial"/>
              </a:rPr>
              <a:t>—  </a:t>
            </a:r>
            <a:r>
              <a:rPr sz="1700" b="0">
                <a:solidFill>
                  <a:srgbClr val="14231C"/>
                </a:solidFill>
                <a:latin typeface="Arial"/>
              </a:rPr>
              <a:t>Списание, статистика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4231C"/>
                </a:solidFill>
                <a:latin typeface="Arial"/>
              </a:rPr>
              <a:t>Архитектура и стек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E6B63"/>
                </a:solidFill>
                <a:latin typeface="Arial"/>
              </a:rPr>
              <a:t>Серверный рендеринг Django + JSON-эндпоинт для живого расчёта цены</a:t>
            </a:r>
          </a:p>
        </p:txBody>
      </p:sp>
      <p:pic>
        <p:nvPicPr>
          <p:cNvPr id="4" name="Picture 3" descr="diagram_architecture_t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60" y="1691639"/>
            <a:ext cx="5330398" cy="4754880"/>
          </a:xfrm>
          <a:prstGeom prst="rect">
            <a:avLst/>
          </a:prstGeom>
        </p:spPr>
      </p:pic>
      <p:sp>
        <p:nvSpPr>
          <p:cNvPr id="5" name="stack Backend"/>
          <p:cNvSpPr/>
          <p:nvPr/>
        </p:nvSpPr>
        <p:spPr>
          <a:xfrm>
            <a:off x="7040880" y="1828800"/>
            <a:ext cx="4599432" cy="749808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80" y="1828800"/>
            <a:ext cx="1554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828800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4231C"/>
                </a:solidFill>
                <a:latin typeface="Arial"/>
              </a:rPr>
              <a:t>Python 3.13, Django 6.0</a:t>
            </a:r>
          </a:p>
        </p:txBody>
      </p:sp>
      <p:sp>
        <p:nvSpPr>
          <p:cNvPr id="8" name="stack База данных"/>
          <p:cNvSpPr/>
          <p:nvPr/>
        </p:nvSpPr>
        <p:spPr>
          <a:xfrm>
            <a:off x="7040880" y="2724912"/>
            <a:ext cx="4599432" cy="749808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2724912"/>
            <a:ext cx="1554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База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724912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4231C"/>
                </a:solidFill>
                <a:latin typeface="Arial"/>
              </a:rPr>
              <a:t>PostgreSQL 17</a:t>
            </a:r>
          </a:p>
        </p:txBody>
      </p:sp>
      <p:sp>
        <p:nvSpPr>
          <p:cNvPr id="11" name="stack Frontend"/>
          <p:cNvSpPr/>
          <p:nvPr/>
        </p:nvSpPr>
        <p:spPr>
          <a:xfrm>
            <a:off x="7040880" y="3621024"/>
            <a:ext cx="4599432" cy="749808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3621024"/>
            <a:ext cx="1554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621024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4231C"/>
                </a:solidFill>
                <a:latin typeface="Arial"/>
              </a:rPr>
              <a:t>HTML, CSS, JavaScript, Chart.js</a:t>
            </a:r>
          </a:p>
        </p:txBody>
      </p:sp>
      <p:sp>
        <p:nvSpPr>
          <p:cNvPr id="14" name="stack Запуск"/>
          <p:cNvSpPr/>
          <p:nvPr/>
        </p:nvSpPr>
        <p:spPr>
          <a:xfrm>
            <a:off x="7040880" y="4517136"/>
            <a:ext cx="4599432" cy="749808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4517136"/>
            <a:ext cx="1554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Запуск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517136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4231C"/>
                </a:solidFill>
                <a:latin typeface="Arial"/>
              </a:rPr>
              <a:t>Docker Compose, Gunicorn, Apache + HTTPS</a:t>
            </a:r>
          </a:p>
        </p:txBody>
      </p:sp>
      <p:sp>
        <p:nvSpPr>
          <p:cNvPr id="17" name="stack Инструменты"/>
          <p:cNvSpPr/>
          <p:nvPr/>
        </p:nvSpPr>
        <p:spPr>
          <a:xfrm>
            <a:off x="7040880" y="5413248"/>
            <a:ext cx="4599432" cy="749808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5413248"/>
            <a:ext cx="1554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Инструменты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5413248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4231C"/>
                </a:solidFill>
                <a:latin typeface="Arial"/>
              </a:rPr>
              <a:t>Git, Postman, Playwright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4231C"/>
                </a:solidFill>
                <a:latin typeface="Arial"/>
              </a:rPr>
              <a:t>База данных: 11 таблиц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E6B63"/>
                </a:solidFill>
                <a:latin typeface="Arial"/>
              </a:rPr>
              <a:t>Позиция каталога и её физические экземпляры разделены</a:t>
            </a:r>
          </a:p>
        </p:txBody>
      </p:sp>
      <p:pic>
        <p:nvPicPr>
          <p:cNvPr id="4" name="Picture 3" descr="diagram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21" y="1691640"/>
            <a:ext cx="6849636" cy="4800600"/>
          </a:xfrm>
          <a:prstGeom prst="rect">
            <a:avLst/>
          </a:prstGeom>
          <a:ln w="12700">
            <a:solidFill>
              <a:srgbClr val="C9D0C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0" y="178308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4D3A"/>
                </a:solidFill>
                <a:latin typeface="Arial"/>
              </a:rPr>
              <a:t>Equipment →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167128"/>
            <a:ext cx="3429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бронируется количество позиции, при выдаче выбираются инвентарные номера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97180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4D3A"/>
                </a:solidFill>
                <a:latin typeface="Arial"/>
              </a:rPr>
              <a:t>CHECK в БД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355848"/>
            <a:ext cx="3429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цена &gt; 0, конец ≥ начала, количество ≥ 1, штраф &gt;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16052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4D3A"/>
                </a:solidFill>
                <a:latin typeface="Arial"/>
              </a:rPr>
              <a:t>Цена фиксируется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544568"/>
            <a:ext cx="3429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смена тарифа не меняет созданные брони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3492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4D3A"/>
                </a:solidFill>
                <a:latin typeface="Arial"/>
              </a:rPr>
              <a:t>История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733288"/>
            <a:ext cx="3429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журнал склада и смены статусов брони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4231C"/>
                </a:solidFill>
                <a:latin typeface="Arial"/>
              </a:rPr>
              <a:t>Главное: нельзя забронировать больше, чем есть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E6B63"/>
                </a:solidFill>
                <a:latin typeface="Arial"/>
              </a:rPr>
              <a:t>Доступность проверяется три раза</a:t>
            </a:r>
          </a:p>
        </p:txBody>
      </p:sp>
      <p:sp>
        <p:nvSpPr>
          <p:cNvPr id="4" name="step 1"/>
          <p:cNvSpPr/>
          <p:nvPr/>
        </p:nvSpPr>
        <p:spPr>
          <a:xfrm>
            <a:off x="548640" y="1828800"/>
            <a:ext cx="6583680" cy="118872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g 1"/>
          <p:cNvSpPr/>
          <p:nvPr/>
        </p:nvSpPr>
        <p:spPr>
          <a:xfrm>
            <a:off x="822960" y="213969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1C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9339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4231C"/>
                </a:solidFill>
                <a:latin typeface="Arial"/>
              </a:rPr>
              <a:t>Форма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231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E6B63"/>
                </a:solidFill>
                <a:latin typeface="Arial"/>
              </a:rPr>
              <a:t>Сразу показывает «свободно только N шт.»</a:t>
            </a:r>
          </a:p>
        </p:txBody>
      </p:sp>
      <p:sp>
        <p:nvSpPr>
          <p:cNvPr id="8" name="step 2"/>
          <p:cNvSpPr/>
          <p:nvPr/>
        </p:nvSpPr>
        <p:spPr>
          <a:xfrm>
            <a:off x="548640" y="3246120"/>
            <a:ext cx="6583680" cy="118872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ag 2"/>
          <p:cNvSpPr/>
          <p:nvPr/>
        </p:nvSpPr>
        <p:spPr>
          <a:xfrm>
            <a:off x="822960" y="3557015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1C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107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4231C"/>
                </a:solidFill>
                <a:latin typeface="Arial"/>
              </a:rPr>
              <a:t>Транзакция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8404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E6B63"/>
                </a:solidFill>
                <a:latin typeface="Arial"/>
              </a:rPr>
              <a:t>SELECT … FOR UPDATE по строке оборудования и повторный пересчёт</a:t>
            </a:r>
          </a:p>
        </p:txBody>
      </p:sp>
      <p:sp>
        <p:nvSpPr>
          <p:cNvPr id="12" name="step 3"/>
          <p:cNvSpPr/>
          <p:nvPr/>
        </p:nvSpPr>
        <p:spPr>
          <a:xfrm>
            <a:off x="548640" y="4663440"/>
            <a:ext cx="6583680" cy="118872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 3"/>
          <p:cNvSpPr/>
          <p:nvPr/>
        </p:nvSpPr>
        <p:spPr>
          <a:xfrm>
            <a:off x="822960" y="497433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6F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4231C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828031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4231C"/>
                </a:solidFill>
                <a:latin typeface="Arial"/>
              </a:rPr>
              <a:t>Подтверждение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25780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E6B63"/>
                </a:solidFill>
                <a:latin typeface="Arial"/>
              </a:rPr>
              <a:t>Менеджер не подтвердит, если экземпляры ушли в ремонт</a:t>
            </a:r>
          </a:p>
        </p:txBody>
      </p:sp>
      <p:sp>
        <p:nvSpPr>
          <p:cNvPr id="16" name="race stat"/>
          <p:cNvSpPr/>
          <p:nvPr/>
        </p:nvSpPr>
        <p:spPr>
          <a:xfrm>
            <a:off x="7589520" y="1828800"/>
            <a:ext cx="4050791" cy="4023360"/>
          </a:xfrm>
          <a:prstGeom prst="roundRect">
            <a:avLst>
              <a:gd name="adj" fmla="val 8000"/>
            </a:avLst>
          </a:prstGeom>
          <a:solidFill>
            <a:srgbClr val="14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1031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EF0EA"/>
                </a:solidFill>
                <a:latin typeface="Arial"/>
              </a:rPr>
              <a:t>Тест на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606040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D6F23A"/>
                </a:solidFill>
                <a:latin typeface="Arial"/>
              </a:rPr>
              <a:t>6 →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93192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шесть одновременных броней последнего экземпляра: успешна ровно одна, пять получают отказ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Даты включительно: аренда «по 7-е» и аренда «с 7-го» конфликтуют, «с 8-го» — нет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4231C"/>
                </a:solidFill>
                <a:latin typeface="Arial"/>
              </a:rPr>
              <a:t>Каталог и бронирование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E6B63"/>
                </a:solidFill>
                <a:latin typeface="Arial"/>
              </a:rPr>
              <a:t>Стоимость и скидка считаются до отправки формы</a:t>
            </a:r>
          </a:p>
        </p:txBody>
      </p:sp>
      <p:pic>
        <p:nvPicPr>
          <p:cNvPr id="4" name="Picture 3" descr="deck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50600"/>
            <a:ext cx="5440679" cy="3825478"/>
          </a:xfrm>
          <a:prstGeom prst="rect">
            <a:avLst/>
          </a:prstGeom>
          <a:ln w="12700">
            <a:solidFill>
              <a:srgbClr val="C9D0C4"/>
            </a:solidFill>
          </a:ln>
        </p:spPr>
      </p:pic>
      <p:pic>
        <p:nvPicPr>
          <p:cNvPr id="5" name="Picture 4" descr="deck_equip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950600"/>
            <a:ext cx="5440679" cy="3825478"/>
          </a:xfrm>
          <a:prstGeom prst="rect">
            <a:avLst/>
          </a:prstGeom>
          <a:ln w="12700">
            <a:solidFill>
              <a:srgbClr val="C9D0C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17220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Направления, фильтры, «свободно на даты»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617220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Календарь свободных экземпляров и живой расчёт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4231C"/>
                </a:solidFill>
                <a:latin typeface="Arial"/>
              </a:rPr>
              <a:t>Рабочее место менеджера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E6B63"/>
                </a:solidFill>
                <a:latin typeface="Arial"/>
              </a:rPr>
              <a:t>Выдача и приём по инвентарным номерам, штрафы — автоматически</a:t>
            </a:r>
          </a:p>
        </p:txBody>
      </p:sp>
      <p:pic>
        <p:nvPicPr>
          <p:cNvPr id="4" name="Picture 3" descr="deck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1642"/>
            <a:ext cx="6035040" cy="4714874"/>
          </a:xfrm>
          <a:prstGeom prst="rect">
            <a:avLst/>
          </a:prstGeom>
          <a:ln w="12700">
            <a:solidFill>
              <a:srgbClr val="C9D0C4"/>
            </a:solidFill>
          </a:ln>
        </p:spPr>
      </p:pic>
      <p:sp>
        <p:nvSpPr>
          <p:cNvPr id="5" name="fine Просрочка"/>
          <p:cNvSpPr/>
          <p:nvPr/>
        </p:nvSpPr>
        <p:spPr>
          <a:xfrm>
            <a:off x="6949440" y="1828800"/>
            <a:ext cx="4690872" cy="123444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201168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4D3A"/>
                </a:solidFill>
                <a:latin typeface="Arial"/>
              </a:rPr>
              <a:t>Просрочка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245059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4231C"/>
                </a:solidFill>
                <a:latin typeface="Arial"/>
              </a:rPr>
              <a:t>сутки × цена суток × количество × 1,5</a:t>
            </a:r>
          </a:p>
        </p:txBody>
      </p:sp>
      <p:sp>
        <p:nvSpPr>
          <p:cNvPr id="8" name="fine Повреждение"/>
          <p:cNvSpPr/>
          <p:nvPr/>
        </p:nvSpPr>
        <p:spPr>
          <a:xfrm>
            <a:off x="6949440" y="3291840"/>
            <a:ext cx="4690872" cy="123444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347472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4D3A"/>
                </a:solidFill>
                <a:latin typeface="Arial"/>
              </a:rPr>
              <a:t>Повреждение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391363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4231C"/>
                </a:solidFill>
                <a:latin typeface="Arial"/>
              </a:rPr>
              <a:t>штраф по решению менеджера, экземпляр уходит в ремонт</a:t>
            </a:r>
          </a:p>
        </p:txBody>
      </p:sp>
      <p:sp>
        <p:nvSpPr>
          <p:cNvPr id="11" name="fine Утеря"/>
          <p:cNvSpPr/>
          <p:nvPr/>
        </p:nvSpPr>
        <p:spPr>
          <a:xfrm>
            <a:off x="6949440" y="4754880"/>
            <a:ext cx="4690872" cy="123444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493776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F4D3A"/>
                </a:solidFill>
                <a:latin typeface="Arial"/>
              </a:rPr>
              <a:t>Утеря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537667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4231C"/>
                </a:solidFill>
                <a:latin typeface="Arial"/>
              </a:rPr>
              <a:t>штраф = стоимость возмещения, экземпляр списывается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626364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«Просрочено» вычисляется, а не хранится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4231C"/>
                </a:solidFill>
                <a:latin typeface="Arial"/>
              </a:rPr>
              <a:t>Статистика для администратора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E6B63"/>
                </a:solidFill>
                <a:latin typeface="Arial"/>
              </a:rPr>
              <a:t>Демо-данные: 482 брони за год, 116 экземпляров</a:t>
            </a:r>
          </a:p>
        </p:txBody>
      </p:sp>
      <p:graphicFrame>
        <p:nvGraphicFramePr>
          <p:cNvPr id="4" name="revenue chart"/>
          <p:cNvGraphicFramePr>
            <a:graphicFrameLocks noGrp="1"/>
          </p:cNvGraphicFramePr>
          <p:nvPr/>
        </p:nvGraphicFramePr>
        <p:xfrm>
          <a:off x="548640" y="1691640"/>
          <a:ext cx="7498079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kpi показателей на дашборде"/>
          <p:cNvSpPr/>
          <p:nvPr/>
        </p:nvSpPr>
        <p:spPr>
          <a:xfrm>
            <a:off x="8412480" y="1828800"/>
            <a:ext cx="3227832" cy="123444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938528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4D3A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606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показателей на дашборде</a:t>
            </a:r>
          </a:p>
        </p:txBody>
      </p:sp>
      <p:sp>
        <p:nvSpPr>
          <p:cNvPr id="8" name="kpi графиков Chart.js"/>
          <p:cNvSpPr/>
          <p:nvPr/>
        </p:nvSpPr>
        <p:spPr>
          <a:xfrm>
            <a:off x="8412480" y="3291840"/>
            <a:ext cx="3227832" cy="123444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3401568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4D3A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069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графиков Chart.js</a:t>
            </a:r>
          </a:p>
        </p:txBody>
      </p:sp>
      <p:sp>
        <p:nvSpPr>
          <p:cNvPr id="11" name="kpi загрузка стройки за 30 дней"/>
          <p:cNvSpPr/>
          <p:nvPr/>
        </p:nvSpPr>
        <p:spPr>
          <a:xfrm>
            <a:off x="8412480" y="4754880"/>
            <a:ext cx="3227832" cy="123444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4864608"/>
            <a:ext cx="274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4D3A"/>
                </a:solidFill>
                <a:latin typeface="Arial"/>
              </a:rPr>
              <a:t>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3"/>
                </a:solidFill>
                <a:latin typeface="Arial"/>
              </a:rPr>
              <a:t>загрузка стройки за 30 дней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4231C"/>
                </a:solidFill>
                <a:latin typeface="Arial"/>
              </a:rPr>
              <a:t>Тестирование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E6B63"/>
                </a:solidFill>
                <a:latin typeface="Arial"/>
              </a:rPr>
              <a:t>Автотесты, сценарии в браузере, Postman, замер времени отклика</a:t>
            </a:r>
          </a:p>
        </p:txBody>
      </p:sp>
      <p:sp>
        <p:nvSpPr>
          <p:cNvPr id="4" name="test 91"/>
          <p:cNvSpPr/>
          <p:nvPr/>
        </p:nvSpPr>
        <p:spPr>
          <a:xfrm>
            <a:off x="548640" y="1828800"/>
            <a:ext cx="5449824" cy="201168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F4D3A"/>
                </a:solidFill>
                <a:latin typeface="Arial"/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31C"/>
                </a:solidFill>
                <a:latin typeface="Arial"/>
              </a:rPr>
              <a:t>автотест: пересечения дат, границы, права, штрафы</a:t>
            </a:r>
          </a:p>
        </p:txBody>
      </p:sp>
      <p:sp>
        <p:nvSpPr>
          <p:cNvPr id="7" name="test 18 / 18"/>
          <p:cNvSpPr/>
          <p:nvPr/>
        </p:nvSpPr>
        <p:spPr>
          <a:xfrm>
            <a:off x="6190488" y="1828800"/>
            <a:ext cx="5449824" cy="201168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210312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F4D3A"/>
                </a:solidFill>
                <a:latin typeface="Arial"/>
              </a:rPr>
              <a:t>18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306324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31C"/>
                </a:solidFill>
                <a:latin typeface="Arial"/>
              </a:rPr>
              <a:t>проверок в сценариях Playwright в браузере</a:t>
            </a:r>
          </a:p>
        </p:txBody>
      </p:sp>
      <p:sp>
        <p:nvSpPr>
          <p:cNvPr id="10" name="test ≤ 100 мс"/>
          <p:cNvSpPr/>
          <p:nvPr/>
        </p:nvSpPr>
        <p:spPr>
          <a:xfrm>
            <a:off x="548640" y="4069080"/>
            <a:ext cx="5449824" cy="201168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F4D3A"/>
                </a:solidFill>
                <a:latin typeface="Arial"/>
              </a:rPr>
              <a:t>≤ 100 мс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31C"/>
                </a:solidFill>
                <a:latin typeface="Arial"/>
              </a:rPr>
              <a:t>ответ страниц на сервере (требование — 2–3 с)</a:t>
            </a:r>
          </a:p>
        </p:txBody>
      </p:sp>
      <p:sp>
        <p:nvSpPr>
          <p:cNvPr id="13" name="test 375 px"/>
          <p:cNvSpPr/>
          <p:nvPr/>
        </p:nvSpPr>
        <p:spPr>
          <a:xfrm>
            <a:off x="6190488" y="4069080"/>
            <a:ext cx="5449824" cy="2011680"/>
          </a:xfrm>
          <a:prstGeom prst="roundRect">
            <a:avLst>
              <a:gd name="adj" fmla="val 8000"/>
            </a:avLst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434340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F4D3A"/>
                </a:solidFill>
                <a:latin typeface="Arial"/>
              </a:rPr>
              <a:t>375 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53035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31C"/>
                </a:solidFill>
                <a:latin typeface="Arial"/>
              </a:rPr>
              <a:t>мобильная ширина без горизонтальной прокрутки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D6F23A"/>
                </a:solidFill>
                <a:latin typeface="Arial"/>
              </a:rPr>
              <a:t>—  </a:t>
            </a:r>
            <a:r>
              <a:rPr sz="2000" b="0">
                <a:solidFill>
                  <a:srgbClr val="FFFFFF"/>
                </a:solidFill>
                <a:latin typeface="Arial"/>
              </a:rPr>
              <a:t>Все задачи практики выполнены: анализ, требования, проект, 5 модулей, тесты, документация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D6F23A"/>
                </a:solidFill>
                <a:latin typeface="Arial"/>
              </a:rPr>
              <a:t>—  </a:t>
            </a:r>
            <a:r>
              <a:rPr sz="2000" b="0">
                <a:solidFill>
                  <a:srgbClr val="FFFFFF"/>
                </a:solidFill>
                <a:latin typeface="Arial"/>
              </a:rPr>
              <a:t>Защита от двойного бронирования подтверждена тестом с параллельными запросами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D6F23A"/>
                </a:solidFill>
                <a:latin typeface="Arial"/>
              </a:rPr>
              <a:t>—  </a:t>
            </a:r>
            <a:r>
              <a:rPr sz="2000" b="0">
                <a:solidFill>
                  <a:srgbClr val="FFFFFF"/>
                </a:solidFill>
                <a:latin typeface="Arial"/>
              </a:rPr>
              <a:t>Приложение опубликовано с HTTPS, код — в репозитории GitHub</a:t>
            </a:r>
          </a:p>
        </p:txBody>
      </p:sp>
      <p:sp>
        <p:nvSpPr>
          <p:cNvPr id="4" name="links"/>
          <p:cNvSpPr/>
          <p:nvPr/>
        </p:nvSpPr>
        <p:spPr>
          <a:xfrm>
            <a:off x="731520" y="4160520"/>
            <a:ext cx="10725912" cy="1371600"/>
          </a:xfrm>
          <a:prstGeom prst="roundRect">
            <a:avLst>
              <a:gd name="adj" fmla="val 8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2976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D6F23A"/>
                </a:solidFill>
                <a:latin typeface="Arial"/>
              </a:rPr>
              <a:t>Сайт  </a:t>
            </a:r>
            <a:r>
              <a:rPr sz="2000" b="0">
                <a:solidFill>
                  <a:srgbClr val="FFFFFF"/>
                </a:solidFill>
                <a:latin typeface="Arial"/>
              </a:rPr>
              <a:t>rental.37.194.184.235.sslip.io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D6F23A"/>
                </a:solidFill>
                <a:latin typeface="Arial"/>
              </a:rPr>
              <a:t>Код    </a:t>
            </a:r>
            <a:r>
              <a:rPr sz="2000" b="0">
                <a:solidFill>
                  <a:srgbClr val="FFFFFF"/>
                </a:solidFill>
                <a:latin typeface="Arial"/>
              </a:rPr>
              <a:t>github.com/HackDanel/equipment-rental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EF0EA"/>
                </a:solidFill>
                <a:latin typeface="Arial"/>
              </a:rPr>
              <a:t>Дальше: онлайн-оплата, договор в PDF, напоминания о возврате, несколько пунктов проката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Прокат оборудования «Снаряга»</dc:title>
  <dc:subject/>
  <dc:creator>Панов Д. С.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